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t>AI-Net</a:t>
            </a:r>
          </a:p>
          <a:p>
            <a:pPr algn="ctr">
              <a:defRPr sz="2400"/>
            </a:pPr>
            <a:r>
              <a:t>AI-Powered Network Intrusion Detection &amp; SOC Platform</a:t>
            </a:r>
          </a:p>
          <a:p>
            <a:pPr algn="ctr">
              <a:defRPr sz="2000"/>
            </a:pPr>
            <a:r>
              <a:t>Final Year Project Presentation</a:t>
            </a:r>
          </a:p>
          <a:p>
            <a:pPr algn="ctr">
              <a:defRPr sz="1600"/>
            </a:pPr>
            <a:r>
              <a:t>Computer Science &amp; Engineering — Cyber Security | Manipal Institute of Technology, Bengaluru</a:t>
            </a:r>
          </a:p>
          <a:p>
            <a:pPr algn="ctr">
              <a:defRPr sz="1800" b="1"/>
            </a:pPr>
            <a:r>
              <a:t>Final API Smoke Test: 24/24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Network traffic is high-volume and difficult to inspect manually.</a:t>
            </a:r>
          </a:p>
          <a:p>
            <a:pPr>
              <a:spcAft>
                <a:spcPts val="900"/>
              </a:spcAft>
              <a:defRPr sz="1800"/>
            </a:pPr>
            <a:r>
              <a:t>A standalone ML classifier does not provide investigation, incident management, evidence, or reporting.</a:t>
            </a:r>
          </a:p>
          <a:p>
            <a:pPr>
              <a:spcAft>
                <a:spcPts val="900"/>
              </a:spcAft>
              <a:defRPr sz="1800"/>
            </a:pPr>
            <a:r>
              <a:t>Security teams need a workflow from detection → investigation → response → closure → audit.</a:t>
            </a:r>
          </a:p>
          <a:p>
            <a:pPr>
              <a:spcAft>
                <a:spcPts val="900"/>
              </a:spcAft>
              <a:defRPr sz="1800"/>
            </a:pPr>
            <a:r>
              <a:t>AI-Net addresses this by combining ML detection with SOC operations in one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Build a supervised network-flow DDoS detection pipeline.</a:t>
            </a:r>
          </a:p>
          <a:p>
            <a:pPr>
              <a:spcAft>
                <a:spcPts val="900"/>
              </a:spcAft>
              <a:defRPr sz="1800"/>
            </a:pPr>
            <a:r>
              <a:t>Support manual prediction and historical CSV analysis.</a:t>
            </a:r>
          </a:p>
          <a:p>
            <a:pPr>
              <a:spcAft>
                <a:spcPts val="900"/>
              </a:spcAft>
              <a:defRPr sz="1800"/>
            </a:pPr>
            <a:r>
              <a:t>Capture and classify live network flows.</a:t>
            </a:r>
          </a:p>
          <a:p>
            <a:pPr>
              <a:spcAft>
                <a:spcPts val="900"/>
              </a:spcAft>
              <a:defRPr sz="1800"/>
            </a:pPr>
            <a:r>
              <a:t>Persist detections and security operations using SQLite.</a:t>
            </a:r>
          </a:p>
          <a:p>
            <a:pPr>
              <a:spcAft>
                <a:spcPts val="900"/>
              </a:spcAft>
              <a:defRPr sz="1800"/>
            </a:pPr>
            <a:r>
              <a:t>Provide threat intelligence, forensics, threat hunting and IOC workflows.</a:t>
            </a:r>
          </a:p>
          <a:p>
            <a:pPr>
              <a:spcAft>
                <a:spcPts val="900"/>
              </a:spcAft>
              <a:defRPr sz="1800"/>
            </a:pPr>
            <a:r>
              <a:t>Implement incidents, cases, SLA, notifications, reporting, compliance and governance.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Presentation: HTML/CSS/JavaScript SOC dashboard.</a:t>
            </a:r>
          </a:p>
          <a:p>
            <a:pPr>
              <a:spcAft>
                <a:spcPts val="900"/>
              </a:spcAft>
              <a:defRPr sz="1800"/>
            </a:pPr>
            <a:r>
              <a:t>Application: Flask backend and REST-style APIs.</a:t>
            </a:r>
          </a:p>
          <a:p>
            <a:pPr>
              <a:spcAft>
                <a:spcPts val="900"/>
              </a:spcAft>
              <a:defRPr sz="1800"/>
            </a:pPr>
            <a:r>
              <a:t>Detection: Random Forest model + saved scaler.</a:t>
            </a:r>
          </a:p>
          <a:p>
            <a:pPr>
              <a:spcAft>
                <a:spcPts val="900"/>
              </a:spcAft>
              <a:defRPr sz="1800"/>
            </a:pPr>
            <a:r>
              <a:t>Telemetry: Scapy packet capture and bidirectional flow aggregation.</a:t>
            </a:r>
          </a:p>
          <a:p>
            <a:pPr>
              <a:spcAft>
                <a:spcPts val="900"/>
              </a:spcAft>
              <a:defRPr sz="1800"/>
            </a:pPr>
            <a:r>
              <a:t>Persistence: SQLite for users, detections, incidents, cases, reports and audit data.</a:t>
            </a:r>
          </a:p>
          <a:p>
            <a:pPr>
              <a:spcAft>
                <a:spcPts val="900"/>
              </a:spcAft>
              <a:defRPr sz="1800"/>
            </a:pPr>
            <a:r>
              <a:t>SOC layer: intelligence, investigation, response, reporting and governance.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120640"/>
            <a:ext cx="173736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Web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5120640"/>
            <a:ext cx="173736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Flask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5120640"/>
            <a:ext cx="173736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ML + Live Capture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5120640"/>
            <a:ext cx="173736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SQLite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5120640"/>
            <a:ext cx="173736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SOC /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Python — core implementation.</a:t>
            </a:r>
          </a:p>
          <a:p>
            <a:pPr>
              <a:spcAft>
                <a:spcPts val="900"/>
              </a:spcAft>
              <a:defRPr sz="1800"/>
            </a:pPr>
            <a:r>
              <a:t>Flask — web application and API layer.</a:t>
            </a:r>
          </a:p>
          <a:p>
            <a:pPr>
              <a:spcAft>
                <a:spcPts val="900"/>
              </a:spcAft>
              <a:defRPr sz="1800"/>
            </a:pPr>
            <a:r>
              <a:t>pandas / NumPy — data processing.</a:t>
            </a:r>
          </a:p>
          <a:p>
            <a:pPr>
              <a:spcAft>
                <a:spcPts val="900"/>
              </a:spcAft>
              <a:defRPr sz="1800"/>
            </a:pPr>
            <a:r>
              <a:t>scikit-learn — machine learning.</a:t>
            </a:r>
          </a:p>
          <a:p>
            <a:pPr>
              <a:spcAft>
                <a:spcPts val="900"/>
              </a:spcAft>
              <a:defRPr sz="1800"/>
            </a:pPr>
            <a:r>
              <a:t>joblib — model/scaler artifacts.</a:t>
            </a:r>
          </a:p>
          <a:p>
            <a:pPr>
              <a:spcAft>
                <a:spcPts val="900"/>
              </a:spcAft>
              <a:defRPr sz="1800"/>
            </a:pPr>
            <a:r>
              <a:t>Scapy + Npcap — live packet capture.</a:t>
            </a:r>
          </a:p>
          <a:p>
            <a:pPr>
              <a:spcAft>
                <a:spcPts val="900"/>
              </a:spcAft>
              <a:defRPr sz="1800"/>
            </a:pPr>
            <a:r>
              <a:t>SQLite — persistent security database.</a:t>
            </a:r>
          </a:p>
          <a:p>
            <a:pPr>
              <a:spcAft>
                <a:spcPts val="900"/>
              </a:spcAft>
              <a:defRPr sz="1800"/>
            </a:pPr>
            <a:r>
              <a:t>ReportLab — PDF security and executive reports.</a:t>
            </a:r>
          </a:p>
          <a:p>
            <a:pPr>
              <a:spcAft>
                <a:spcPts val="900"/>
              </a:spcAft>
              <a:defRPr sz="1800"/>
            </a:pPr>
            <a:r>
              <a:t>HTML/CSS/JavaScript —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Dataset — CIC-IDS2017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Primary dataset: CIC-IDS2017 flow traffic.</a:t>
            </a:r>
          </a:p>
          <a:p>
            <a:pPr>
              <a:spcAft>
                <a:spcPts val="900"/>
              </a:spcAft>
              <a:defRPr sz="1800"/>
            </a:pPr>
            <a:r>
              <a:t>DDoS file: Friday-WorkingHours-Afternoon-DDos.pcap_ISCX.csv.</a:t>
            </a:r>
          </a:p>
          <a:p>
            <a:pPr>
              <a:spcAft>
                <a:spcPts val="900"/>
              </a:spcAft>
              <a:defRPr sz="1800"/>
            </a:pPr>
            <a:r>
              <a:t>Total rows recorded: 225,745.</a:t>
            </a:r>
          </a:p>
          <a:p>
            <a:pPr>
              <a:spcAft>
                <a:spcPts val="900"/>
              </a:spcAft>
              <a:defRPr sz="1800"/>
            </a:pPr>
            <a:r>
              <a:t>BENIGN: 97,893 rows (43.36%).</a:t>
            </a:r>
          </a:p>
          <a:p>
            <a:pPr>
              <a:spcAft>
                <a:spcPts val="900"/>
              </a:spcAft>
              <a:defRPr sz="1800"/>
            </a:pPr>
            <a:r>
              <a:t>DDoS: 127,852 rows (56.64%).</a:t>
            </a:r>
          </a:p>
          <a:p>
            <a:pPr>
              <a:spcAft>
                <a:spcPts val="900"/>
              </a:spcAft>
              <a:defRPr sz="1800"/>
            </a:pPr>
            <a:r>
              <a:t>Important distinction: the flow CSV does not provide live endpoint IP intelligence in the same form as packet capture.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Data Preparation &amp;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Cleaned CSV headers and standardized feature names.</a:t>
            </a:r>
          </a:p>
          <a:p>
            <a:pPr>
              <a:spcAft>
                <a:spcPts val="900"/>
              </a:spcAft>
              <a:defRPr sz="1800"/>
            </a:pPr>
            <a:r>
              <a:t>Checked traffic labels, numeric fields, distributions and outliers.</a:t>
            </a:r>
          </a:p>
          <a:p>
            <a:pPr>
              <a:spcAft>
                <a:spcPts val="900"/>
              </a:spcAft>
              <a:defRPr sz="1800"/>
            </a:pPr>
            <a:r>
              <a:t>An initial 5,000-row sample was found to be BENIGN-only; the full DDoS CSV was then used for correct attack-class analysis.</a:t>
            </a:r>
          </a:p>
          <a:p>
            <a:pPr>
              <a:spcAft>
                <a:spcPts val="900"/>
              </a:spcAft>
              <a:defRPr sz="1800"/>
            </a:pPr>
            <a:r>
              <a:t>A very large merged dataset caused memory pressure during Random Forest training, so a manageable training sample was used.</a:t>
            </a:r>
          </a:p>
          <a:p>
            <a:pPr>
              <a:spcAft>
                <a:spcPts val="900"/>
              </a:spcAft>
              <a:defRPr sz="1800"/>
            </a:pPr>
            <a:r>
              <a:t>EDA and feature importance informed the final compact feature 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Selected ML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1. Avg Bwd Segment Size</a:t>
            </a:r>
          </a:p>
          <a:p>
            <a:pPr>
              <a:spcAft>
                <a:spcPts val="900"/>
              </a:spcAft>
              <a:defRPr sz="1800"/>
            </a:pPr>
            <a:r>
              <a:t>2. Packet Length Variance</a:t>
            </a:r>
          </a:p>
          <a:p>
            <a:pPr>
              <a:spcAft>
                <a:spcPts val="900"/>
              </a:spcAft>
              <a:defRPr sz="1800"/>
            </a:pPr>
            <a:r>
              <a:t>3. Bwd Packet Length Max</a:t>
            </a:r>
          </a:p>
          <a:p>
            <a:pPr>
              <a:spcAft>
                <a:spcPts val="900"/>
              </a:spcAft>
              <a:defRPr sz="1800"/>
            </a:pPr>
            <a:r>
              <a:t>4. Max Packet Length</a:t>
            </a:r>
          </a:p>
          <a:p>
            <a:pPr>
              <a:spcAft>
                <a:spcPts val="900"/>
              </a:spcAft>
              <a:defRPr sz="1800"/>
            </a:pPr>
            <a:r>
              <a:t>5. Bwd Packet Length Std</a:t>
            </a:r>
          </a:p>
          <a:p>
            <a:pPr>
              <a:spcAft>
                <a:spcPts val="900"/>
              </a:spcAft>
              <a:defRPr sz="1800"/>
            </a:pPr>
            <a:r>
              <a:t>6. Packet Length Std</a:t>
            </a:r>
          </a:p>
          <a:p>
            <a:pPr>
              <a:spcAft>
                <a:spcPts val="900"/>
              </a:spcAft>
              <a:defRPr sz="1800"/>
            </a:pPr>
            <a:r>
              <a:t>7. Average Packet Size</a:t>
            </a:r>
          </a:p>
          <a:p>
            <a:pPr>
              <a:spcAft>
                <a:spcPts val="900"/>
              </a:spcAft>
              <a:defRPr sz="1800"/>
            </a:pPr>
            <a:r>
              <a:t>8. Subflow Fwd Packets</a:t>
            </a:r>
          </a:p>
          <a:p>
            <a:pPr>
              <a:spcAft>
                <a:spcPts val="900"/>
              </a:spcAft>
              <a:defRPr sz="1800"/>
            </a:pPr>
            <a:r>
              <a:t>9. act_data_pkt_fwd</a:t>
            </a:r>
          </a:p>
          <a:p>
            <a:pPr>
              <a:spcAft>
                <a:spcPts val="900"/>
              </a:spcAft>
              <a:defRPr sz="1800"/>
            </a:pPr>
            <a:r>
              <a:t>10. Bwd Packet Length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Machine Learning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Final classifier: Random Forest.</a:t>
            </a:r>
          </a:p>
          <a:p>
            <a:pPr>
              <a:spcAft>
                <a:spcPts val="900"/>
              </a:spcAft>
              <a:defRPr sz="1800"/>
            </a:pPr>
            <a:r>
              <a:t>Task: BENIGN vs DDoS flow classification.</a:t>
            </a:r>
          </a:p>
          <a:p>
            <a:pPr>
              <a:spcAft>
                <a:spcPts val="900"/>
              </a:spcAft>
              <a:defRPr sz="1800"/>
            </a:pPr>
            <a:r>
              <a:t>Saved model and scaler are loaded at application startup.</a:t>
            </a:r>
          </a:p>
          <a:p>
            <a:pPr>
              <a:spcAft>
                <a:spcPts val="900"/>
              </a:spcAft>
              <a:defRPr sz="1800"/>
            </a:pPr>
            <a:r>
              <a:t>Inference pipeline: feature preparation → scaling → classification → confidence.</a:t>
            </a:r>
          </a:p>
          <a:p>
            <a:pPr>
              <a:spcAft>
                <a:spcPts val="900"/>
              </a:spcAft>
              <a:defRPr sz="1800"/>
            </a:pPr>
            <a:r>
              <a:t>Random Forest also provides model-level feature importance for explainability.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Recorded Accuracy: 99.93%.</a:t>
            </a:r>
          </a:p>
          <a:p>
            <a:pPr>
              <a:spcAft>
                <a:spcPts val="900"/>
              </a:spcAft>
              <a:defRPr sz="1800"/>
            </a:pPr>
            <a:r>
              <a:t>Recorded Precision: 99.98%.</a:t>
            </a:r>
          </a:p>
          <a:p>
            <a:pPr>
              <a:spcAft>
                <a:spcPts val="900"/>
              </a:spcAft>
              <a:defRPr sz="1800"/>
            </a:pPr>
            <a:r>
              <a:t>Recorded Recall: 99.89%.</a:t>
            </a:r>
          </a:p>
          <a:p>
            <a:pPr>
              <a:spcAft>
                <a:spcPts val="900"/>
              </a:spcAft>
              <a:defRPr sz="1800"/>
            </a:pPr>
            <a:r>
              <a:t>Representative DDoS sample: approximately 99%+ confidence during testing.</a:t>
            </a:r>
          </a:p>
          <a:p>
            <a:pPr>
              <a:spcAft>
                <a:spcPts val="900"/>
              </a:spcAft>
              <a:defRPr sz="1800"/>
            </a:pPr>
            <a:r>
              <a:t>Representative BENIGN sample: approximately 95.39% confidence during testing.</a:t>
            </a:r>
          </a:p>
          <a:p>
            <a:pPr>
              <a:spcAft>
                <a:spcPts val="900"/>
              </a:spcAft>
              <a:defRPr sz="1800"/>
            </a:pPr>
            <a:r>
              <a:t>These are project evaluation results and do not guarantee equivalent real-world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Real-Time Detection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1. Capture packets using Scapy.</a:t>
            </a:r>
          </a:p>
          <a:p>
            <a:pPr>
              <a:spcAft>
                <a:spcPts val="900"/>
              </a:spcAft>
              <a:defRPr sz="1800"/>
            </a:pPr>
            <a:r>
              <a:t>2. Group packets into bidirectional flows.</a:t>
            </a:r>
          </a:p>
          <a:p>
            <a:pPr>
              <a:spcAft>
                <a:spcPts val="900"/>
              </a:spcAft>
              <a:defRPr sz="1800"/>
            </a:pPr>
            <a:r>
              <a:t>3. Track packet direction, counts, sizes and timing.</a:t>
            </a:r>
          </a:p>
          <a:p>
            <a:pPr>
              <a:spcAft>
                <a:spcPts val="900"/>
              </a:spcAft>
              <a:defRPr sz="1800"/>
            </a:pPr>
            <a:r>
              <a:t>4. Compute the ten model features.</a:t>
            </a:r>
          </a:p>
          <a:p>
            <a:pPr>
              <a:spcAft>
                <a:spcPts val="900"/>
              </a:spcAft>
              <a:defRPr sz="1800"/>
            </a:pPr>
            <a:r>
              <a:t>5. Apply the saved scaler.</a:t>
            </a:r>
          </a:p>
          <a:p>
            <a:pPr>
              <a:spcAft>
                <a:spcPts val="900"/>
              </a:spcAft>
              <a:defRPr sz="1800"/>
            </a:pPr>
            <a:r>
              <a:t>6. Run Random Forest prediction.</a:t>
            </a:r>
          </a:p>
          <a:p>
            <a:pPr>
              <a:spcAft>
                <a:spcPts val="900"/>
              </a:spcAft>
              <a:defRPr sz="1800"/>
            </a:pPr>
            <a:r>
              <a:t>7. Persist prediction, confidence and IP metadata.</a:t>
            </a:r>
          </a:p>
          <a:p>
            <a:pPr>
              <a:spcAft>
                <a:spcPts val="900"/>
              </a:spcAft>
              <a:defRPr sz="1800"/>
            </a:pPr>
            <a:r>
              <a:t>8. Feed detections into SOC analytics and incident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SOC Security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Detection History and Security Alerts provide triage.</a:t>
            </a:r>
          </a:p>
          <a:p>
            <a:pPr>
              <a:spcAft>
                <a:spcPts val="900"/>
              </a:spcAft>
              <a:defRPr sz="1800"/>
            </a:pPr>
            <a:r>
              <a:t>Threat Intelligence summarizes attack rate, confidence, sources, destinations and risk.</a:t>
            </a:r>
          </a:p>
          <a:p>
            <a:pPr>
              <a:spcAft>
                <a:spcPts val="900"/>
              </a:spcAft>
              <a:defRPr sz="1800"/>
            </a:pPr>
            <a:r>
              <a:t>Network Forensics and Source Investigation provide evidence.</a:t>
            </a:r>
          </a:p>
          <a:p>
            <a:pPr>
              <a:spcAft>
                <a:spcPts val="900"/>
              </a:spcAft>
              <a:defRPr sz="1800"/>
            </a:pPr>
            <a:r>
              <a:t>Threat Hunting searches live telemetry by IP.</a:t>
            </a:r>
          </a:p>
          <a:p>
            <a:pPr>
              <a:spcAft>
                <a:spcPts val="900"/>
              </a:spcAft>
              <a:defRPr sz="1800"/>
            </a:pPr>
            <a:r>
              <a:t>IOC Watchlist supports local indicator correlation.</a:t>
            </a:r>
          </a:p>
          <a:p>
            <a:pPr>
              <a:spcAft>
                <a:spcPts val="900"/>
              </a:spcAft>
              <a:defRPr sz="1800"/>
            </a:pPr>
            <a:r>
              <a:t>Incidents and SOC Cases organize response and ownership.</a:t>
            </a:r>
          </a:p>
          <a:p>
            <a:pPr>
              <a:spcAft>
                <a:spcPts val="900"/>
              </a:spcAft>
              <a:defRPr sz="1800"/>
            </a:pPr>
            <a:r>
              <a:t>Reports, compliance and governance preserve security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Incident &amp; Case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DDoS detections can be correlated into incidents.</a:t>
            </a:r>
          </a:p>
          <a:p>
            <a:pPr>
              <a:spcAft>
                <a:spcPts val="900"/>
              </a:spcAft>
              <a:defRPr sz="1800"/>
            </a:pPr>
            <a:r>
              <a:t>Incident lifecycle: OPEN → INVESTIGATING → CONTAINED → RESOLVED/CLOSED.</a:t>
            </a:r>
          </a:p>
          <a:p>
            <a:pPr>
              <a:spcAft>
                <a:spcPts val="900"/>
              </a:spcAft>
              <a:defRPr sz="1800"/>
            </a:pPr>
            <a:r>
              <a:t>SOC cases include priority, assignment, notes and SLA deadlines.</a:t>
            </a:r>
          </a:p>
          <a:p>
            <a:pPr>
              <a:spcAft>
                <a:spcPts val="900"/>
              </a:spcAft>
              <a:defRPr sz="1800"/>
            </a:pPr>
            <a:r>
              <a:t>Critical DDoS incidents can trigger automatic SOC case creation.</a:t>
            </a:r>
          </a:p>
          <a:p>
            <a:pPr>
              <a:spcAft>
                <a:spcPts val="900"/>
              </a:spcAft>
              <a:defRPr sz="1800"/>
            </a:pPr>
            <a:r>
              <a:t>Incident response controls are simulation-based and do not silently change external firewalls.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SLA, Escalation &amp; Notifications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Incident SLA targets: CRITICAL 1h, HIGH 4h, MEDIUM 12h, LOW 24h.</a:t>
            </a:r>
          </a:p>
          <a:p>
            <a:pPr>
              <a:spcAft>
                <a:spcPts val="900"/>
              </a:spcAft>
              <a:defRPr sz="1800"/>
            </a:pPr>
            <a:r>
              <a:t>SLA states include ON_TRACK, AT_RISK, OVERDUE and COMPLETED.</a:t>
            </a:r>
          </a:p>
          <a:p>
            <a:pPr>
              <a:spcAft>
                <a:spcPts val="900"/>
              </a:spcAft>
              <a:defRPr sz="1800"/>
            </a:pPr>
            <a:r>
              <a:t>Automated escalation evaluates configured policy.</a:t>
            </a:r>
          </a:p>
          <a:p>
            <a:pPr>
              <a:spcAft>
                <a:spcPts val="900"/>
              </a:spcAft>
              <a:defRPr sz="1800"/>
            </a:pPr>
            <a:r>
              <a:t>SOC notifications record severity, incident, event type and acknowledgement.</a:t>
            </a:r>
          </a:p>
          <a:p>
            <a:pPr>
              <a:spcAft>
                <a:spcPts val="900"/>
              </a:spcAft>
              <a:defRPr sz="1800"/>
            </a:pPr>
            <a:r>
              <a:t>Notification audit history supports operational accountability.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Authentication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Role-based access: Admin, SOC Analyst and Viewer.</a:t>
            </a:r>
          </a:p>
          <a:p>
            <a:pPr>
              <a:spcAft>
                <a:spcPts val="900"/>
              </a:spcAft>
              <a:defRPr sz="1800"/>
            </a:pPr>
            <a:r>
              <a:t>Admin controls user management and sensitive administration.</a:t>
            </a:r>
          </a:p>
          <a:p>
            <a:pPr>
              <a:spcAft>
                <a:spcPts val="900"/>
              </a:spcAft>
              <a:defRPr sz="1800"/>
            </a:pPr>
            <a:r>
              <a:t>SOC Analyst handles operational detection and investigation.</a:t>
            </a:r>
          </a:p>
          <a:p>
            <a:pPr>
              <a:spcAft>
                <a:spcPts val="900"/>
              </a:spcAft>
              <a:defRPr sz="1800"/>
            </a:pPr>
            <a:r>
              <a:t>Viewer is read-only.</a:t>
            </a:r>
          </a:p>
          <a:p>
            <a:pPr>
              <a:spcAft>
                <a:spcPts val="900"/>
              </a:spcAft>
              <a:defRPr sz="1800"/>
            </a:pPr>
            <a:r>
              <a:t>Security hardening includes secret-key configuration, secure session settings, upload limits, login-failure lockout and security headers.</a:t>
            </a:r>
          </a:p>
          <a:p>
            <a:pPr>
              <a:spcAft>
                <a:spcPts val="900"/>
              </a:spcAft>
              <a:defRPr sz="1800"/>
            </a:pPr>
            <a:r>
              <a:t>Sensitive report downloads are role-controlled and audited.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Database &amp;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SQLite is the persistent system of record.</a:t>
            </a:r>
          </a:p>
          <a:p>
            <a:pPr>
              <a:spcAft>
                <a:spcPts val="900"/>
              </a:spcAft>
              <a:defRPr sz="1800"/>
            </a:pPr>
            <a:r>
              <a:t>Stores users, authentication audit, detections, incidents, cases, IOC data, notifications and reporting/governance records.</a:t>
            </a:r>
          </a:p>
          <a:p>
            <a:pPr>
              <a:spcAft>
                <a:spcPts val="900"/>
              </a:spcAft>
              <a:defRPr sz="1800"/>
            </a:pPr>
            <a:r>
              <a:t>Indexes support timestamp, prediction, IP, protocol and operational queries.</a:t>
            </a:r>
          </a:p>
          <a:p>
            <a:pPr>
              <a:spcAft>
                <a:spcPts val="900"/>
              </a:spcAft>
              <a:defRPr sz="1800"/>
            </a:pPr>
            <a:r>
              <a:t>Database integrity, consistency, health, backup and restore workflows are implemented.</a:t>
            </a:r>
          </a:p>
          <a:p>
            <a:pPr>
              <a:spcAft>
                <a:spcPts val="900"/>
              </a:spcAft>
              <a:defRPr sz="1800"/>
            </a:pPr>
            <a:r>
              <a:t>Legacy CSV/JSON files remain for compatibility where applicable.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Reporting, Compliance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Executive and case PDF reports are generated with ReportLab.</a:t>
            </a:r>
          </a:p>
          <a:p>
            <a:pPr>
              <a:spcAft>
                <a:spcPts val="900"/>
              </a:spcAft>
              <a:defRPr sz="1800"/>
            </a:pPr>
            <a:r>
              <a:t>Reports are archived with metadata and SHA-256 integrity information.</a:t>
            </a:r>
          </a:p>
          <a:p>
            <a:pPr>
              <a:spcAft>
                <a:spcPts val="900"/>
              </a:spcAft>
              <a:defRPr sz="1800"/>
            </a:pPr>
            <a:r>
              <a:t>Secure downloads, delivery tracking and version history are recorded.</a:t>
            </a:r>
          </a:p>
          <a:p>
            <a:pPr>
              <a:spcAft>
                <a:spcPts val="900"/>
              </a:spcAft>
              <a:defRPr sz="1800"/>
            </a:pPr>
            <a:r>
              <a:t>Approval states: DRAFT, REVIEW, APPROVED, PUBLISHED, REJECTED.</a:t>
            </a:r>
          </a:p>
          <a:p>
            <a:pPr>
              <a:spcAft>
                <a:spcPts val="900"/>
              </a:spcAft>
              <a:defRPr sz="1800"/>
            </a:pPr>
            <a:r>
              <a:t>Compliance evidence snapshots preserve point-in-time audit information.</a:t>
            </a:r>
          </a:p>
          <a:p>
            <a:pPr>
              <a:spcAft>
                <a:spcPts val="900"/>
              </a:spcAft>
              <a:defRPr sz="1800"/>
            </a:pPr>
            <a:r>
              <a:t>Governance certification provides a final sign-off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Testing &amp; Final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Python syntax validation performed during development.</a:t>
            </a:r>
          </a:p>
          <a:p>
            <a:pPr>
              <a:spcAft>
                <a:spcPts val="900"/>
              </a:spcAft>
              <a:defRPr sz="1800"/>
            </a:pPr>
            <a:r>
              <a:t>Individual dashboard and API functions were tested iteratively.</a:t>
            </a:r>
          </a:p>
          <a:p>
            <a:pPr>
              <a:spcAft>
                <a:spcPts val="900"/>
              </a:spcAft>
              <a:defRPr sz="1800"/>
            </a:pPr>
            <a:r>
              <a:t>Database health and consistency checks were implemented.</a:t>
            </a:r>
          </a:p>
          <a:p>
            <a:pPr>
              <a:spcAft>
                <a:spcPts val="900"/>
              </a:spcAft>
              <a:defRPr sz="1800"/>
            </a:pPr>
            <a:r>
              <a:t>Live capture status was validated.</a:t>
            </a:r>
          </a:p>
          <a:p>
            <a:pPr>
              <a:spcAft>
                <a:spcPts val="900"/>
              </a:spcAft>
              <a:defRPr sz="1800"/>
            </a:pPr>
            <a:r>
              <a:t>Final automated API smoke test checks authentication, database, readiness, SOC, incident, case, reporting, compliance, governance and live-capture APIs.</a:t>
            </a:r>
          </a:p>
          <a:p>
            <a:pPr>
              <a:spcAft>
                <a:spcPts val="900"/>
              </a:spcAft>
              <a:defRPr sz="1800"/>
            </a:pPr>
            <a:r>
              <a:t>FINAL RESULT: 24/24 PASS.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19. 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Current primary modeled attack class is DDoS.</a:t>
            </a:r>
          </a:p>
          <a:p>
            <a:pPr>
              <a:spcAft>
                <a:spcPts val="900"/>
              </a:spcAft>
              <a:defRPr sz="1800"/>
            </a:pPr>
            <a:r>
              <a:t>Benchmark dataset performance may differ from production traffic.</a:t>
            </a:r>
          </a:p>
          <a:p>
            <a:pPr>
              <a:spcAft>
                <a:spcPts val="900"/>
              </a:spcAft>
              <a:defRPr sz="1800"/>
            </a:pPr>
            <a:r>
              <a:t>Live capture depends on Npcap, permissions and interface configuration.</a:t>
            </a:r>
          </a:p>
          <a:p>
            <a:pPr>
              <a:spcAft>
                <a:spcPts val="900"/>
              </a:spcAft>
              <a:defRPr sz="1800"/>
            </a:pPr>
            <a:r>
              <a:t>External firewall, SIEM, SOAR, email and ticketing integrations are not enabled by the simulation controls.</a:t>
            </a:r>
          </a:p>
          <a:p>
            <a:pPr>
              <a:spcAft>
                <a:spcPts val="900"/>
              </a:spcAft>
              <a:defRPr sz="1800"/>
            </a:pPr>
            <a:r>
              <a:t>Future: multi-class detection, drift monitoring, additional datasets, SIEM/SOAR integration, distributed collectors and stronger enterprise identity integration.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AI-Net extends ML-based intrusion detection into a complete defensive SOC workflow.</a:t>
            </a:r>
          </a:p>
          <a:p>
            <a:pPr>
              <a:spcAft>
                <a:spcPts val="900"/>
              </a:spcAft>
              <a:defRPr sz="1800"/>
            </a:pPr>
            <a:r>
              <a:t>The platform combines offline analysis, real-time flow detection, persistent telemetry, investigation, incidents, cases, SLA, notifications, reporting, compliance and governance.</a:t>
            </a:r>
          </a:p>
          <a:p>
            <a:pPr>
              <a:spcAft>
                <a:spcPts val="900"/>
              </a:spcAft>
              <a:defRPr sz="1800"/>
            </a:pPr>
            <a:r>
              <a:t>The final recorded end-to-end API smoke test achieved 24/24 PASS.</a:t>
            </a:r>
          </a:p>
          <a:p>
            <a:pPr>
              <a:spcAft>
                <a:spcPts val="900"/>
              </a:spcAft>
              <a:defRPr sz="1800"/>
            </a:pPr>
            <a:r>
              <a:t>Before production use, environment-specific security, performance, live-traffic and penetration testing should be completed.</a:t>
            </a:r>
          </a:p>
          <a:p>
            <a:pPr>
              <a:spcAft>
                <a:spcPts val="900"/>
              </a:spcAft>
              <a:defRPr sz="1800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AI-Net | Final Year Project |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